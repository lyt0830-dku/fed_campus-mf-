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38912"/>
            <a:ext cx="713232" cy="2591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417320"/>
            <a:ext cx="7863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0" b="1">
                <a:solidFill>
                  <a:srgbClr val="142030"/>
                </a:solidFill>
              </a:defRPr>
            </a:pPr>
            <a:r>
              <a:t>Logger and Evaluator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63748B"/>
                </a:solidFill>
              </a:defRPr>
            </a:pPr>
            <a:r>
              <a:t>A trustworthy single-device leaderboard pipeline for on-device LLM fine-tuning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141732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Logger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3794760"/>
            <a:ext cx="1691640" cy="47548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Evaluator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3794760"/>
            <a:ext cx="1874519" cy="47548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Leaderboard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53328"/>
            <a:ext cx="5943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3748B"/>
                </a:solidFill>
              </a:defRPr>
            </a:pPr>
            <a:r>
              <a:t>MobileFineTuner / EdgeFlowerTune Leaderboard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9720" y="0"/>
            <a:ext cx="2999232" cy="6858000"/>
          </a:xfrm>
          <a:prstGeom prst="rect">
            <a:avLst/>
          </a:prstGeom>
          <a:solidFill>
            <a:srgbClr val="14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57232" y="960120"/>
            <a:ext cx="713232" cy="7132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08792" y="960120"/>
            <a:ext cx="713232" cy="71323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57232" y="2011680"/>
            <a:ext cx="713232" cy="71323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08792" y="2011680"/>
            <a:ext cx="713232" cy="7132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82912" y="3886200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Record</a:t>
            </a:r>
            <a:br/>
            <a:r>
              <a:t>Validate</a:t>
            </a:r>
            <a:br/>
            <a:r>
              <a:t>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030"/>
                </a:solidFill>
              </a:defRPr>
            </a:pPr>
            <a:r>
              <a:t>Problem: Runs Are Not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9536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3748B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63748B"/>
                </a:solidFill>
              </a:defRPr>
            </a:pPr>
            <a:r>
              <a:t>A training run only becomes useful after it is recorded, validated, and made comparable.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10835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157984"/>
            <a:ext cx="201168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234440" y="2048256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030"/>
                </a:solidFill>
              </a:defRPr>
            </a:pPr>
            <a:r>
              <a:t>Training output alone is ambiguous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77440"/>
            <a:ext cx="9052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63748B"/>
                </a:solidFill>
              </a:defRPr>
            </a:pPr>
            <a:r>
              <a:t>We need model, dataset, system, and config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72384"/>
            <a:ext cx="10835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3328416"/>
            <a:ext cx="201168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234440" y="3218688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030"/>
                </a:solidFill>
              </a:defRPr>
            </a:pPr>
            <a:r>
              <a:t>Raw logs are easy to lose or modify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547872"/>
            <a:ext cx="9052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63748B"/>
                </a:solidFill>
              </a:defRPr>
            </a:pPr>
            <a:r>
              <a:t>Leaderboard entries need structured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42816"/>
            <a:ext cx="10835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4498848"/>
            <a:ext cx="201168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234440" y="4389120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030"/>
                </a:solidFill>
              </a:defRPr>
            </a:pPr>
            <a:r>
              <a:t>Device results must be comparable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718304"/>
            <a:ext cx="9052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63748B"/>
                </a:solidFill>
              </a:defRPr>
            </a:pPr>
            <a:r>
              <a:t>Single-device results should use locked experiment contracts.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030"/>
                </a:solidFill>
              </a:defRPr>
            </a:pPr>
            <a:r>
              <a:t>Overall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9536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3748B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240280"/>
            <a:ext cx="329184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24328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030"/>
                </a:solidFill>
              </a:defRPr>
            </a:pPr>
            <a:r>
              <a:t>Training Runner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5351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3748B"/>
                </a:solidFill>
              </a:defRPr>
            </a:pPr>
            <a:r>
              <a:t>Runs MF native training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715768"/>
            <a:ext cx="685800" cy="0"/>
          </a:xfrm>
          <a:prstGeom prst="line">
            <a:avLst/>
          </a:prstGeom>
          <a:ln w="22860">
            <a:solidFill>
              <a:srgbClr val="63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29000" y="2057400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84448" y="2240280"/>
            <a:ext cx="329184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624328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030"/>
                </a:solidFill>
              </a:defRPr>
            </a:pPr>
            <a:r>
              <a:t>Logger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95351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3748B"/>
                </a:solidFill>
              </a:defRPr>
            </a:pPr>
            <a:r>
              <a:t>Records the full run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0" y="2715768"/>
            <a:ext cx="685800" cy="0"/>
          </a:xfrm>
          <a:prstGeom prst="line">
            <a:avLst/>
          </a:prstGeom>
          <a:ln w="22860">
            <a:solidFill>
              <a:srgbClr val="63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2200" y="2057400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7648" y="2240280"/>
            <a:ext cx="329184" cy="32918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624328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030"/>
                </a:solidFill>
              </a:defRPr>
            </a:pPr>
            <a:r>
              <a:t>Evaluator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95351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3748B"/>
                </a:solidFill>
              </a:defRPr>
            </a:pPr>
            <a:r>
              <a:t>Validates and scores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2715768"/>
            <a:ext cx="685800" cy="0"/>
          </a:xfrm>
          <a:prstGeom prst="line">
            <a:avLst/>
          </a:prstGeom>
          <a:ln w="22860">
            <a:solidFill>
              <a:srgbClr val="63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15400" y="2057400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70848" y="2240280"/>
            <a:ext cx="329184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624328"/>
            <a:ext cx="1645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030"/>
                </a:solidFill>
              </a:defRPr>
            </a:pPr>
            <a:r>
              <a:t>Leaderboard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295351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3748B"/>
                </a:solidFill>
              </a:defRPr>
            </a:pPr>
            <a:r>
              <a:t>Displays comparable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06908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1F2937"/>
                </a:solidFill>
              </a:defRPr>
            </a:pPr>
            <a:r>
              <a:t>The logger and evaluator sit between training execution and leaderboard reporting.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892040"/>
            <a:ext cx="3291840" cy="457200"/>
          </a:xfrm>
          <a:prstGeom prst="roundRect">
            <a:avLst/>
          </a:prstGeom>
          <a:solidFill>
            <a:srgbClr val="14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Evidence boundary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030"/>
                </a:solidFill>
              </a:defRPr>
            </a:pPr>
            <a:r>
              <a:t>Logger: Record the 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9536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3748B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508760"/>
            <a:ext cx="18288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Responsibilities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2057400" cy="411480"/>
          </a:xfrm>
          <a:prstGeom prst="roundRect">
            <a:avLst/>
          </a:prstGeom>
          <a:solidFill>
            <a:srgbClr val="14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Non-responsibilities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488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Capture run metadata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Lock model / dataset / system / config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Record step-level metrics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Track checkpoints and artifacts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Build a tamper-evident hash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1488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Does not train the model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Does not rank methods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Does not decide fairness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Does not compute leaderboard scores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030"/>
                </a:solidFill>
              </a:defRPr>
            </a:pPr>
            <a:r>
              <a:t>Logger Output: Run Bundle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9536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3748B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154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99032"/>
            <a:ext cx="2834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030"/>
                </a:solidFill>
              </a:defRPr>
            </a:pPr>
            <a:r>
              <a:t>run_meta.json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37360"/>
            <a:ext cx="2743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3748B"/>
                </a:solidFill>
              </a:defRPr>
            </a:pPr>
            <a:r>
              <a:t>Run identity and timestamps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234440"/>
            <a:ext cx="3154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399032"/>
            <a:ext cx="2834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030"/>
                </a:solidFill>
              </a:defRPr>
            </a:pPr>
            <a:r>
              <a:t>model.lock.yaml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264" y="1737360"/>
            <a:ext cx="2743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3748B"/>
                </a:solidFill>
              </a:defRPr>
            </a:pPr>
            <a:r>
              <a:t>Frozen model identity and assets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1234440"/>
            <a:ext cx="3154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1399032"/>
            <a:ext cx="2834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030"/>
                </a:solidFill>
              </a:defRPr>
            </a:pPr>
            <a:r>
              <a:t>dataset.lock.yaml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1737360"/>
            <a:ext cx="2743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3748B"/>
                </a:solidFill>
              </a:defRPr>
            </a:pPr>
            <a:r>
              <a:t>Frozen dataset identity and split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24912"/>
            <a:ext cx="3154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889504"/>
            <a:ext cx="2834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030"/>
                </a:solidFill>
              </a:defRPr>
            </a:pPr>
            <a:r>
              <a:t>system.lock.yaml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227832"/>
            <a:ext cx="2743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3748B"/>
                </a:solidFill>
              </a:defRPr>
            </a:pPr>
            <a:r>
              <a:t>Device/backend/runtime profile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3672" y="2724912"/>
            <a:ext cx="3154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2889504"/>
            <a:ext cx="2834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030"/>
                </a:solidFill>
              </a:defRPr>
            </a:pPr>
            <a:r>
              <a:t>training_config.lock.yaml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3227832"/>
            <a:ext cx="2743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3748B"/>
                </a:solidFill>
              </a:defRPr>
            </a:pPr>
            <a:r>
              <a:t>Batch, sequence, LoRA, optimizer settings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81544" y="2724912"/>
            <a:ext cx="3154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46136" y="2889504"/>
            <a:ext cx="2834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030"/>
                </a:solidFill>
              </a:defRPr>
            </a:pPr>
            <a:r>
              <a:t>metric_trace.jsonl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6136" y="3227832"/>
            <a:ext cx="2743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3748B"/>
                </a:solidFill>
              </a:defRPr>
            </a:pPr>
            <a:r>
              <a:t>Step loss, time, and training 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15383"/>
            <a:ext cx="3154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379975"/>
            <a:ext cx="2834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030"/>
                </a:solidFill>
              </a:defRPr>
            </a:pPr>
            <a:r>
              <a:t>system_samples.jsonl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718303"/>
            <a:ext cx="2743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3748B"/>
                </a:solidFill>
              </a:defRPr>
            </a:pPr>
            <a:r>
              <a:t>RSS, energy, and device samples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33672" y="4215383"/>
            <a:ext cx="3154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4379975"/>
            <a:ext cx="2834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030"/>
                </a:solidFill>
              </a:defRPr>
            </a:pPr>
            <a:r>
              <a:t>checkpoint_manifest.jsonl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4718303"/>
            <a:ext cx="2743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3748B"/>
                </a:solidFill>
              </a:defRPr>
            </a:pPr>
            <a:r>
              <a:t>Checkpoint files and hashes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81544" y="4215383"/>
            <a:ext cx="3154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46136" y="4379975"/>
            <a:ext cx="2834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030"/>
                </a:solidFill>
              </a:defRPr>
            </a:pPr>
            <a:r>
              <a:t>hashes.json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46136" y="4718303"/>
            <a:ext cx="2743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3748B"/>
                </a:solidFill>
              </a:defRPr>
            </a:pPr>
            <a:r>
              <a:t>Tamper-evident hash chain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6053328"/>
            <a:ext cx="5440680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One standardized evidence package per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030"/>
                </a:solidFill>
              </a:defRPr>
            </a:pPr>
            <a:r>
              <a:t>Evaluator: Validate and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9536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3748B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508760"/>
            <a:ext cx="182880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2057400" cy="411480"/>
          </a:xfrm>
          <a:prstGeom prst="roundRect">
            <a:avLst/>
          </a:prstGeom>
          <a:solidFill>
            <a:srgbClr val="14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488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Required files exist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Locked configs are complete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Metric trace is continuous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Checkpoint manifest is consistent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Hash chain is valid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1488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Final loss and loss drop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Average step time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Peak and average memory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Energy consumption</a:t>
            </a:r>
          </a:p>
          <a:p>
            <a:pPr>
              <a:spcAft>
                <a:spcPts val="150"/>
              </a:spcAft>
              <a:defRPr sz="1700">
                <a:solidFill>
                  <a:srgbClr val="1F2937"/>
                </a:solidFill>
              </a:defRPr>
            </a:pPr>
            <a:r>
              <a:t>• Checkpoint count and integrity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030"/>
                </a:solidFill>
              </a:defRPr>
            </a:pPr>
            <a:r>
              <a:t>Logger vs. Evaluator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9536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3748B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743200" cy="502920"/>
          </a:xfrm>
          <a:prstGeom prst="roundRect">
            <a:avLst/>
          </a:prstGeom>
          <a:solidFill>
            <a:srgbClr val="14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Dimension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234440"/>
            <a:ext cx="3886200" cy="502920"/>
          </a:xfrm>
          <a:prstGeom prst="roundRect">
            <a:avLst/>
          </a:prstGeom>
          <a:solidFill>
            <a:srgbClr val="14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234440"/>
            <a:ext cx="3886200" cy="502920"/>
          </a:xfrm>
          <a:prstGeom prst="roundRect">
            <a:avLst/>
          </a:prstGeom>
          <a:solidFill>
            <a:srgbClr val="14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Evaluator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029968"/>
            <a:ext cx="2523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2937"/>
                </a:solidFill>
              </a:defRPr>
            </a:pPr>
            <a:r>
              <a:t>When it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920240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029968"/>
            <a:ext cx="3666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1F2937"/>
                </a:solidFill>
              </a:defRPr>
            </a:pPr>
            <a:r>
              <a:t>During training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920240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2029968"/>
            <a:ext cx="3666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1F2937"/>
                </a:solidFill>
              </a:defRPr>
            </a:pPr>
            <a:r>
              <a:t>After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697480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7208"/>
            <a:ext cx="2523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2937"/>
                </a:solidFill>
              </a:defRPr>
            </a:pPr>
            <a:r>
              <a:t>Main input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2697480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2807208"/>
            <a:ext cx="3666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1F2937"/>
                </a:solidFill>
              </a:defRPr>
            </a:pPr>
            <a:r>
              <a:t>Training events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2697480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7" y="2807208"/>
            <a:ext cx="3666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1F2937"/>
                </a:solidFill>
              </a:defRPr>
            </a:pPr>
            <a:r>
              <a:t>Run bundle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474720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584448"/>
            <a:ext cx="2523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2937"/>
                </a:solidFill>
              </a:defRPr>
            </a:pPr>
            <a:r>
              <a:t>Main 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3474720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0168" y="3584448"/>
            <a:ext cx="3666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1F2937"/>
                </a:solidFill>
              </a:defRPr>
            </a:pPr>
            <a:r>
              <a:t>Structured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3474720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7" y="3584448"/>
            <a:ext cx="3666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1F2937"/>
                </a:solidFill>
              </a:defRPr>
            </a:pPr>
            <a:r>
              <a:t>Leaderboard-ready result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51960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361688"/>
            <a:ext cx="2523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2937"/>
                </a:solidFill>
              </a:defRPr>
            </a:pPr>
            <a:r>
              <a:t>Core question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251960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0168" y="4361688"/>
            <a:ext cx="3666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1F2937"/>
                </a:solidFill>
              </a:defRPr>
            </a:pPr>
            <a:r>
              <a:t>What happened?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4251960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07807" y="4361688"/>
            <a:ext cx="3666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1F2937"/>
                </a:solidFill>
              </a:defRPr>
            </a:pPr>
            <a:r>
              <a:t>Can we trust and compare it?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5029200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5138928"/>
            <a:ext cx="2523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2937"/>
                </a:solidFill>
              </a:defRPr>
            </a:pPr>
            <a:r>
              <a:t>Failure mode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5029200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0168" y="5138928"/>
            <a:ext cx="3666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1F2937"/>
                </a:solidFill>
              </a:defRPr>
            </a:pPr>
            <a:r>
              <a:t>Missing or malformed records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5029200"/>
            <a:ext cx="3886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7" y="5138928"/>
            <a:ext cx="36667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1F2937"/>
                </a:solidFill>
              </a:defRPr>
            </a:pPr>
            <a:r>
              <a:t>Invalid or unfair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030"/>
                </a:solidFill>
              </a:defRPr>
            </a:pPr>
            <a:r>
              <a:t>Example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9536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3748B"/>
                </a:solidFill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246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246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0" y="1143000"/>
            <a:ext cx="3246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444752"/>
            <a:ext cx="109728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444752"/>
            <a:ext cx="1234440" cy="38404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Logger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44752"/>
            <a:ext cx="150876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Evaluator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10312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500">
                <a:solidFill>
                  <a:srgbClr val="1F2937"/>
                </a:solidFill>
              </a:defRPr>
            </a:pPr>
            <a:r>
              <a:t>• Model: Qwen2.5-0.5B</a:t>
            </a:r>
          </a:p>
          <a:p>
            <a:pPr>
              <a:spcAft>
                <a:spcPts val="150"/>
              </a:spcAft>
              <a:defRPr sz="1500">
                <a:solidFill>
                  <a:srgbClr val="1F2937"/>
                </a:solidFill>
              </a:defRPr>
            </a:pPr>
            <a:r>
              <a:t>• Dataset: QNLI</a:t>
            </a:r>
          </a:p>
          <a:p>
            <a:pPr>
              <a:spcAft>
                <a:spcPts val="150"/>
              </a:spcAft>
              <a:defRPr sz="1500">
                <a:solidFill>
                  <a:srgbClr val="1F2937"/>
                </a:solidFill>
              </a:defRPr>
            </a:pPr>
            <a:r>
              <a:t>• Backend: MF native C++</a:t>
            </a:r>
          </a:p>
          <a:p>
            <a:pPr>
              <a:spcAft>
                <a:spcPts val="150"/>
              </a:spcAft>
              <a:defRPr sz="1500">
                <a:solidFill>
                  <a:srgbClr val="1F2937"/>
                </a:solidFill>
              </a:defRPr>
            </a:pPr>
            <a:r>
              <a:t>• Device: one Android 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10312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500">
                <a:solidFill>
                  <a:srgbClr val="1F2937"/>
                </a:solidFill>
              </a:defRPr>
            </a:pPr>
            <a:r>
              <a:t>• Locks model/dataset/system/config</a:t>
            </a:r>
          </a:p>
          <a:p>
            <a:pPr>
              <a:spcAft>
                <a:spcPts val="150"/>
              </a:spcAft>
              <a:defRPr sz="1500">
                <a:solidFill>
                  <a:srgbClr val="1F2937"/>
                </a:solidFill>
              </a:defRPr>
            </a:pPr>
            <a:r>
              <a:t>• Records step loss and time</a:t>
            </a:r>
          </a:p>
          <a:p>
            <a:pPr>
              <a:spcAft>
                <a:spcPts val="150"/>
              </a:spcAft>
              <a:defRPr sz="1500">
                <a:solidFill>
                  <a:srgbClr val="1F2937"/>
                </a:solidFill>
              </a:defRPr>
            </a:pPr>
            <a:r>
              <a:t>• Samples memory and energy</a:t>
            </a:r>
          </a:p>
          <a:p>
            <a:pPr>
              <a:spcAft>
                <a:spcPts val="150"/>
              </a:spcAft>
              <a:defRPr sz="1500">
                <a:solidFill>
                  <a:srgbClr val="1F2937"/>
                </a:solidFill>
              </a:defRPr>
            </a:pPr>
            <a:r>
              <a:t>• Hashes checkpoints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10312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500">
                <a:solidFill>
                  <a:srgbClr val="1F2937"/>
                </a:solidFill>
              </a:defRPr>
            </a:pPr>
            <a:r>
              <a:t>• Verifies bundle integrity</a:t>
            </a:r>
          </a:p>
          <a:p>
            <a:pPr>
              <a:spcAft>
                <a:spcPts val="150"/>
              </a:spcAft>
              <a:defRPr sz="1500">
                <a:solidFill>
                  <a:srgbClr val="1F2937"/>
                </a:solidFill>
              </a:defRPr>
            </a:pPr>
            <a:r>
              <a:t>• Checks config comparability</a:t>
            </a:r>
          </a:p>
          <a:p>
            <a:pPr>
              <a:spcAft>
                <a:spcPts val="150"/>
              </a:spcAft>
              <a:defRPr sz="1500">
                <a:solidFill>
                  <a:srgbClr val="1F2937"/>
                </a:solidFill>
              </a:defRPr>
            </a:pPr>
            <a:r>
              <a:t>• Computes final metrics</a:t>
            </a:r>
          </a:p>
          <a:p>
            <a:pPr>
              <a:spcAft>
                <a:spcPts val="150"/>
              </a:spcAft>
              <a:defRPr sz="1500">
                <a:solidFill>
                  <a:srgbClr val="1F2937"/>
                </a:solidFill>
              </a:defRPr>
            </a:pPr>
            <a:r>
              <a:t>• Emits one leaderboard row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5897880"/>
            <a:ext cx="452628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Output: one validated leaderboard row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030"/>
                </a:solidFill>
              </a:defRPr>
            </a:pPr>
            <a: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9536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190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3748B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5613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128" y="1581912"/>
            <a:ext cx="347472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490472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030"/>
                </a:solidFill>
              </a:defRPr>
            </a:pPr>
            <a:r>
              <a:t>Logger makes runs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56231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3748B"/>
                </a:solidFill>
              </a:defRPr>
            </a:pPr>
            <a:r>
              <a:t>Every experiment has structured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51176"/>
            <a:ext cx="105613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" y="2807208"/>
            <a:ext cx="347472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715768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030"/>
                </a:solidFill>
              </a:defRPr>
            </a:pPr>
            <a:r>
              <a:t>Evaluator makes results trustworthy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8152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3748B"/>
                </a:solidFill>
              </a:defRPr>
            </a:pPr>
            <a:r>
              <a:t>Invalid or incomparable runs are rejected.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76472"/>
            <a:ext cx="105613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4128" y="4032504"/>
            <a:ext cx="347472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941063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030"/>
                </a:solidFill>
              </a:defRPr>
            </a:pPr>
            <a:r>
              <a:t>Together they make the leaderboard meaningful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06824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3748B"/>
                </a:solidFill>
              </a:defRPr>
            </a:pPr>
            <a:r>
              <a:t>Numbers become verifiable single-device benchmark results.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5349240"/>
            <a:ext cx="10058400" cy="566928"/>
          </a:xfrm>
          <a:prstGeom prst="roundRect">
            <a:avLst/>
          </a:prstGeom>
          <a:solidFill>
            <a:srgbClr val="14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/>
              <a:t>Next step: standardize model, dataset, and system selection, while extending support from GPT-2/Gemma/Qwen to Llama and more model families.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